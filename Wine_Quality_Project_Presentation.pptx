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7" r:id="rId6"/>
    <p:sldId id="261" r:id="rId7"/>
    <p:sldId id="262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338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73CB80-37F0-48A7-B7E8-87A6BB7AA3D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15E154-3391-40F9-9397-FC4A262AD62B}">
      <dgm:prSet/>
      <dgm:spPr/>
      <dgm:t>
        <a:bodyPr/>
        <a:lstStyle/>
        <a:p>
          <a:r>
            <a:rPr lang="en-US"/>
            <a:t>Quality evaluation relies on sensory panels. </a:t>
          </a:r>
        </a:p>
      </dgm:t>
    </dgm:pt>
    <dgm:pt modelId="{B182015E-D081-4F46-A02B-2029879E3B11}" type="parTrans" cxnId="{47B4C638-ED12-4205-936F-786A19B38870}">
      <dgm:prSet/>
      <dgm:spPr/>
      <dgm:t>
        <a:bodyPr/>
        <a:lstStyle/>
        <a:p>
          <a:endParaRPr lang="en-US"/>
        </a:p>
      </dgm:t>
    </dgm:pt>
    <dgm:pt modelId="{C634E4AB-1678-4D48-806A-53537AE0D021}" type="sibTrans" cxnId="{47B4C638-ED12-4205-936F-786A19B38870}">
      <dgm:prSet/>
      <dgm:spPr/>
      <dgm:t>
        <a:bodyPr/>
        <a:lstStyle/>
        <a:p>
          <a:endParaRPr lang="en-US"/>
        </a:p>
      </dgm:t>
    </dgm:pt>
    <dgm:pt modelId="{47BE2290-AB50-4FA4-8186-B11E71A94E80}">
      <dgm:prSet/>
      <dgm:spPr/>
      <dgm:t>
        <a:bodyPr/>
        <a:lstStyle/>
        <a:p>
          <a:r>
            <a:rPr lang="en-US"/>
            <a:t>Chemical profiling provides objective methods.</a:t>
          </a:r>
        </a:p>
      </dgm:t>
    </dgm:pt>
    <dgm:pt modelId="{DE398AE8-DF25-4657-A94A-139F94BCE62F}" type="parTrans" cxnId="{ABB2BE91-58CA-4AAC-8744-2BAF596A0AF5}">
      <dgm:prSet/>
      <dgm:spPr/>
      <dgm:t>
        <a:bodyPr/>
        <a:lstStyle/>
        <a:p>
          <a:endParaRPr lang="en-US"/>
        </a:p>
      </dgm:t>
    </dgm:pt>
    <dgm:pt modelId="{056FAC64-0C02-4521-BA7B-D9A3951AE972}" type="sibTrans" cxnId="{ABB2BE91-58CA-4AAC-8744-2BAF596A0AF5}">
      <dgm:prSet/>
      <dgm:spPr/>
      <dgm:t>
        <a:bodyPr/>
        <a:lstStyle/>
        <a:p>
          <a:endParaRPr lang="en-US"/>
        </a:p>
      </dgm:t>
    </dgm:pt>
    <dgm:pt modelId="{4F97FC97-279C-407A-82E9-BF1E329948E3}">
      <dgm:prSet/>
      <dgm:spPr/>
      <dgm:t>
        <a:bodyPr/>
        <a:lstStyle/>
        <a:p>
          <a:r>
            <a:rPr lang="en-US"/>
            <a:t>This Shiny app enables interactive exploration and prediction.</a:t>
          </a:r>
        </a:p>
      </dgm:t>
    </dgm:pt>
    <dgm:pt modelId="{8A62D687-8743-47BE-8666-1357C8934422}" type="parTrans" cxnId="{350E7869-FE85-4C64-9CAA-89D123F43D42}">
      <dgm:prSet/>
      <dgm:spPr/>
      <dgm:t>
        <a:bodyPr/>
        <a:lstStyle/>
        <a:p>
          <a:endParaRPr lang="en-US"/>
        </a:p>
      </dgm:t>
    </dgm:pt>
    <dgm:pt modelId="{C0349155-89FF-4F68-83AE-05C4EAD22517}" type="sibTrans" cxnId="{350E7869-FE85-4C64-9CAA-89D123F43D42}">
      <dgm:prSet/>
      <dgm:spPr/>
      <dgm:t>
        <a:bodyPr/>
        <a:lstStyle/>
        <a:p>
          <a:endParaRPr lang="en-US"/>
        </a:p>
      </dgm:t>
    </dgm:pt>
    <dgm:pt modelId="{623440AD-D945-41BF-A693-48145AB780E7}">
      <dgm:prSet/>
      <dgm:spPr/>
      <dgm:t>
        <a:bodyPr/>
        <a:lstStyle/>
        <a:p>
          <a:r>
            <a:rPr lang="en-US"/>
            <a:t>(Cortez et al., 2009)</a:t>
          </a:r>
        </a:p>
      </dgm:t>
    </dgm:pt>
    <dgm:pt modelId="{F0B70D04-6ED7-402A-8A18-486936D9C9F9}" type="parTrans" cxnId="{C08D3F4C-E030-4FB7-99E6-6BFCAFD3CEB6}">
      <dgm:prSet/>
      <dgm:spPr/>
      <dgm:t>
        <a:bodyPr/>
        <a:lstStyle/>
        <a:p>
          <a:endParaRPr lang="en-US"/>
        </a:p>
      </dgm:t>
    </dgm:pt>
    <dgm:pt modelId="{87843EDA-C21D-4F3C-8345-602155A276A6}" type="sibTrans" cxnId="{C08D3F4C-E030-4FB7-99E6-6BFCAFD3CEB6}">
      <dgm:prSet/>
      <dgm:spPr/>
      <dgm:t>
        <a:bodyPr/>
        <a:lstStyle/>
        <a:p>
          <a:endParaRPr lang="en-US"/>
        </a:p>
      </dgm:t>
    </dgm:pt>
    <dgm:pt modelId="{A82D90E8-43F6-47DC-A5BC-A31B844214A9}" type="pres">
      <dgm:prSet presAssocID="{2B73CB80-37F0-48A7-B7E8-87A6BB7AA3D7}" presName="vert0" presStyleCnt="0">
        <dgm:presLayoutVars>
          <dgm:dir/>
          <dgm:animOne val="branch"/>
          <dgm:animLvl val="lvl"/>
        </dgm:presLayoutVars>
      </dgm:prSet>
      <dgm:spPr/>
    </dgm:pt>
    <dgm:pt modelId="{99820EE3-B450-4520-9455-8CD65B121F8F}" type="pres">
      <dgm:prSet presAssocID="{7315E154-3391-40F9-9397-FC4A262AD62B}" presName="thickLine" presStyleLbl="alignNode1" presStyleIdx="0" presStyleCnt="4"/>
      <dgm:spPr/>
    </dgm:pt>
    <dgm:pt modelId="{1C224568-210E-4CB1-856C-A528A51BE076}" type="pres">
      <dgm:prSet presAssocID="{7315E154-3391-40F9-9397-FC4A262AD62B}" presName="horz1" presStyleCnt="0"/>
      <dgm:spPr/>
    </dgm:pt>
    <dgm:pt modelId="{65C496B3-3824-4DF1-B581-DB47744EABF1}" type="pres">
      <dgm:prSet presAssocID="{7315E154-3391-40F9-9397-FC4A262AD62B}" presName="tx1" presStyleLbl="revTx" presStyleIdx="0" presStyleCnt="4"/>
      <dgm:spPr/>
    </dgm:pt>
    <dgm:pt modelId="{2E49BB18-9E68-44E4-9AE5-291160159C16}" type="pres">
      <dgm:prSet presAssocID="{7315E154-3391-40F9-9397-FC4A262AD62B}" presName="vert1" presStyleCnt="0"/>
      <dgm:spPr/>
    </dgm:pt>
    <dgm:pt modelId="{188E35E5-43DB-4499-A64E-54DE6DBFFED2}" type="pres">
      <dgm:prSet presAssocID="{47BE2290-AB50-4FA4-8186-B11E71A94E80}" presName="thickLine" presStyleLbl="alignNode1" presStyleIdx="1" presStyleCnt="4"/>
      <dgm:spPr/>
    </dgm:pt>
    <dgm:pt modelId="{2D62B8E4-35CA-4724-B2EB-6A860E8B4625}" type="pres">
      <dgm:prSet presAssocID="{47BE2290-AB50-4FA4-8186-B11E71A94E80}" presName="horz1" presStyleCnt="0"/>
      <dgm:spPr/>
    </dgm:pt>
    <dgm:pt modelId="{F42DD66E-5932-4EBB-9C8B-150982F1B51F}" type="pres">
      <dgm:prSet presAssocID="{47BE2290-AB50-4FA4-8186-B11E71A94E80}" presName="tx1" presStyleLbl="revTx" presStyleIdx="1" presStyleCnt="4"/>
      <dgm:spPr/>
    </dgm:pt>
    <dgm:pt modelId="{E27594FD-0625-488B-A4EC-256E7763C508}" type="pres">
      <dgm:prSet presAssocID="{47BE2290-AB50-4FA4-8186-B11E71A94E80}" presName="vert1" presStyleCnt="0"/>
      <dgm:spPr/>
    </dgm:pt>
    <dgm:pt modelId="{9CE00F49-BFD3-4E34-BE9F-FCB371EE5C82}" type="pres">
      <dgm:prSet presAssocID="{4F97FC97-279C-407A-82E9-BF1E329948E3}" presName="thickLine" presStyleLbl="alignNode1" presStyleIdx="2" presStyleCnt="4"/>
      <dgm:spPr/>
    </dgm:pt>
    <dgm:pt modelId="{9EB4D44E-8574-45EC-A575-CCCFCD12F64F}" type="pres">
      <dgm:prSet presAssocID="{4F97FC97-279C-407A-82E9-BF1E329948E3}" presName="horz1" presStyleCnt="0"/>
      <dgm:spPr/>
    </dgm:pt>
    <dgm:pt modelId="{AB40CD9C-8E6C-451A-9ADE-63BE29629695}" type="pres">
      <dgm:prSet presAssocID="{4F97FC97-279C-407A-82E9-BF1E329948E3}" presName="tx1" presStyleLbl="revTx" presStyleIdx="2" presStyleCnt="4"/>
      <dgm:spPr/>
    </dgm:pt>
    <dgm:pt modelId="{8D5716B4-8AED-47C0-BDB5-1ABC8E5B8524}" type="pres">
      <dgm:prSet presAssocID="{4F97FC97-279C-407A-82E9-BF1E329948E3}" presName="vert1" presStyleCnt="0"/>
      <dgm:spPr/>
    </dgm:pt>
    <dgm:pt modelId="{1A74E619-E460-45B4-8C38-0C7B4EC829CA}" type="pres">
      <dgm:prSet presAssocID="{623440AD-D945-41BF-A693-48145AB780E7}" presName="thickLine" presStyleLbl="alignNode1" presStyleIdx="3" presStyleCnt="4"/>
      <dgm:spPr/>
    </dgm:pt>
    <dgm:pt modelId="{D0D8B43D-8F6B-41E4-B566-85B20DA75BF6}" type="pres">
      <dgm:prSet presAssocID="{623440AD-D945-41BF-A693-48145AB780E7}" presName="horz1" presStyleCnt="0"/>
      <dgm:spPr/>
    </dgm:pt>
    <dgm:pt modelId="{44873FDA-21E9-4D8E-AF3E-24B8D7912622}" type="pres">
      <dgm:prSet presAssocID="{623440AD-D945-41BF-A693-48145AB780E7}" presName="tx1" presStyleLbl="revTx" presStyleIdx="3" presStyleCnt="4"/>
      <dgm:spPr/>
    </dgm:pt>
    <dgm:pt modelId="{7AC5F6DF-0CAB-4300-8D70-A0FF3DDE49C8}" type="pres">
      <dgm:prSet presAssocID="{623440AD-D945-41BF-A693-48145AB780E7}" presName="vert1" presStyleCnt="0"/>
      <dgm:spPr/>
    </dgm:pt>
  </dgm:ptLst>
  <dgm:cxnLst>
    <dgm:cxn modelId="{25E53006-E065-417E-9390-1F321422F0C8}" type="presOf" srcId="{623440AD-D945-41BF-A693-48145AB780E7}" destId="{44873FDA-21E9-4D8E-AF3E-24B8D7912622}" srcOrd="0" destOrd="0" presId="urn:microsoft.com/office/officeart/2008/layout/LinedList"/>
    <dgm:cxn modelId="{03086C0E-73BD-4A20-871A-5035CF643F10}" type="presOf" srcId="{4F97FC97-279C-407A-82E9-BF1E329948E3}" destId="{AB40CD9C-8E6C-451A-9ADE-63BE29629695}" srcOrd="0" destOrd="0" presId="urn:microsoft.com/office/officeart/2008/layout/LinedList"/>
    <dgm:cxn modelId="{47B4C638-ED12-4205-936F-786A19B38870}" srcId="{2B73CB80-37F0-48A7-B7E8-87A6BB7AA3D7}" destId="{7315E154-3391-40F9-9397-FC4A262AD62B}" srcOrd="0" destOrd="0" parTransId="{B182015E-D081-4F46-A02B-2029879E3B11}" sibTransId="{C634E4AB-1678-4D48-806A-53537AE0D021}"/>
    <dgm:cxn modelId="{350E7869-FE85-4C64-9CAA-89D123F43D42}" srcId="{2B73CB80-37F0-48A7-B7E8-87A6BB7AA3D7}" destId="{4F97FC97-279C-407A-82E9-BF1E329948E3}" srcOrd="2" destOrd="0" parTransId="{8A62D687-8743-47BE-8666-1357C8934422}" sibTransId="{C0349155-89FF-4F68-83AE-05C4EAD22517}"/>
    <dgm:cxn modelId="{C08D3F4C-E030-4FB7-99E6-6BFCAFD3CEB6}" srcId="{2B73CB80-37F0-48A7-B7E8-87A6BB7AA3D7}" destId="{623440AD-D945-41BF-A693-48145AB780E7}" srcOrd="3" destOrd="0" parTransId="{F0B70D04-6ED7-402A-8A18-486936D9C9F9}" sibTransId="{87843EDA-C21D-4F3C-8345-602155A276A6}"/>
    <dgm:cxn modelId="{9C20116E-C473-4ED5-93E5-0C6B291500A6}" type="presOf" srcId="{47BE2290-AB50-4FA4-8186-B11E71A94E80}" destId="{F42DD66E-5932-4EBB-9C8B-150982F1B51F}" srcOrd="0" destOrd="0" presId="urn:microsoft.com/office/officeart/2008/layout/LinedList"/>
    <dgm:cxn modelId="{C576F884-01EE-4528-8AB5-1FB09A971C2D}" type="presOf" srcId="{7315E154-3391-40F9-9397-FC4A262AD62B}" destId="{65C496B3-3824-4DF1-B581-DB47744EABF1}" srcOrd="0" destOrd="0" presId="urn:microsoft.com/office/officeart/2008/layout/LinedList"/>
    <dgm:cxn modelId="{ABB2BE91-58CA-4AAC-8744-2BAF596A0AF5}" srcId="{2B73CB80-37F0-48A7-B7E8-87A6BB7AA3D7}" destId="{47BE2290-AB50-4FA4-8186-B11E71A94E80}" srcOrd="1" destOrd="0" parTransId="{DE398AE8-DF25-4657-A94A-139F94BCE62F}" sibTransId="{056FAC64-0C02-4521-BA7B-D9A3951AE972}"/>
    <dgm:cxn modelId="{38548092-EEBF-4F7B-8AFE-1287522DCFEB}" type="presOf" srcId="{2B73CB80-37F0-48A7-B7E8-87A6BB7AA3D7}" destId="{A82D90E8-43F6-47DC-A5BC-A31B844214A9}" srcOrd="0" destOrd="0" presId="urn:microsoft.com/office/officeart/2008/layout/LinedList"/>
    <dgm:cxn modelId="{81735F68-6F1B-4D1D-BD33-22A482ED4EEE}" type="presParOf" srcId="{A82D90E8-43F6-47DC-A5BC-A31B844214A9}" destId="{99820EE3-B450-4520-9455-8CD65B121F8F}" srcOrd="0" destOrd="0" presId="urn:microsoft.com/office/officeart/2008/layout/LinedList"/>
    <dgm:cxn modelId="{D1CEA630-AD9B-4CD6-9D9F-A12CB2F22540}" type="presParOf" srcId="{A82D90E8-43F6-47DC-A5BC-A31B844214A9}" destId="{1C224568-210E-4CB1-856C-A528A51BE076}" srcOrd="1" destOrd="0" presId="urn:microsoft.com/office/officeart/2008/layout/LinedList"/>
    <dgm:cxn modelId="{733D8068-61AB-4828-8CA0-217342E3CAFA}" type="presParOf" srcId="{1C224568-210E-4CB1-856C-A528A51BE076}" destId="{65C496B3-3824-4DF1-B581-DB47744EABF1}" srcOrd="0" destOrd="0" presId="urn:microsoft.com/office/officeart/2008/layout/LinedList"/>
    <dgm:cxn modelId="{588A9382-9BA2-4986-9D55-AE9C13BD82DC}" type="presParOf" srcId="{1C224568-210E-4CB1-856C-A528A51BE076}" destId="{2E49BB18-9E68-44E4-9AE5-291160159C16}" srcOrd="1" destOrd="0" presId="urn:microsoft.com/office/officeart/2008/layout/LinedList"/>
    <dgm:cxn modelId="{7BC40587-1B78-45B1-A4C0-4C3706E3AC38}" type="presParOf" srcId="{A82D90E8-43F6-47DC-A5BC-A31B844214A9}" destId="{188E35E5-43DB-4499-A64E-54DE6DBFFED2}" srcOrd="2" destOrd="0" presId="urn:microsoft.com/office/officeart/2008/layout/LinedList"/>
    <dgm:cxn modelId="{C91186C7-5A03-49CE-809D-998B37B015F6}" type="presParOf" srcId="{A82D90E8-43F6-47DC-A5BC-A31B844214A9}" destId="{2D62B8E4-35CA-4724-B2EB-6A860E8B4625}" srcOrd="3" destOrd="0" presId="urn:microsoft.com/office/officeart/2008/layout/LinedList"/>
    <dgm:cxn modelId="{6DA6626B-C720-4EF0-AD3F-F6EE086F7E07}" type="presParOf" srcId="{2D62B8E4-35CA-4724-B2EB-6A860E8B4625}" destId="{F42DD66E-5932-4EBB-9C8B-150982F1B51F}" srcOrd="0" destOrd="0" presId="urn:microsoft.com/office/officeart/2008/layout/LinedList"/>
    <dgm:cxn modelId="{709B2B92-3BBE-414C-9019-88B37E974FD2}" type="presParOf" srcId="{2D62B8E4-35CA-4724-B2EB-6A860E8B4625}" destId="{E27594FD-0625-488B-A4EC-256E7763C508}" srcOrd="1" destOrd="0" presId="urn:microsoft.com/office/officeart/2008/layout/LinedList"/>
    <dgm:cxn modelId="{942793D2-820C-43A9-9B48-EE6666D79D67}" type="presParOf" srcId="{A82D90E8-43F6-47DC-A5BC-A31B844214A9}" destId="{9CE00F49-BFD3-4E34-BE9F-FCB371EE5C82}" srcOrd="4" destOrd="0" presId="urn:microsoft.com/office/officeart/2008/layout/LinedList"/>
    <dgm:cxn modelId="{55F49A02-F5EA-4F9F-ABE5-678A24BA2BB8}" type="presParOf" srcId="{A82D90E8-43F6-47DC-A5BC-A31B844214A9}" destId="{9EB4D44E-8574-45EC-A575-CCCFCD12F64F}" srcOrd="5" destOrd="0" presId="urn:microsoft.com/office/officeart/2008/layout/LinedList"/>
    <dgm:cxn modelId="{496DEDA7-4EA7-4953-97AC-3C158ACA8A06}" type="presParOf" srcId="{9EB4D44E-8574-45EC-A575-CCCFCD12F64F}" destId="{AB40CD9C-8E6C-451A-9ADE-63BE29629695}" srcOrd="0" destOrd="0" presId="urn:microsoft.com/office/officeart/2008/layout/LinedList"/>
    <dgm:cxn modelId="{94FD8DEC-6BA4-4F83-8071-BA3902A6E053}" type="presParOf" srcId="{9EB4D44E-8574-45EC-A575-CCCFCD12F64F}" destId="{8D5716B4-8AED-47C0-BDB5-1ABC8E5B8524}" srcOrd="1" destOrd="0" presId="urn:microsoft.com/office/officeart/2008/layout/LinedList"/>
    <dgm:cxn modelId="{B771CFE8-E2CF-4C39-A6ED-ED3877B36C5F}" type="presParOf" srcId="{A82D90E8-43F6-47DC-A5BC-A31B844214A9}" destId="{1A74E619-E460-45B4-8C38-0C7B4EC829CA}" srcOrd="6" destOrd="0" presId="urn:microsoft.com/office/officeart/2008/layout/LinedList"/>
    <dgm:cxn modelId="{9359FFB0-78AC-4539-BFCC-70A8BDA78BD3}" type="presParOf" srcId="{A82D90E8-43F6-47DC-A5BC-A31B844214A9}" destId="{D0D8B43D-8F6B-41E4-B566-85B20DA75BF6}" srcOrd="7" destOrd="0" presId="urn:microsoft.com/office/officeart/2008/layout/LinedList"/>
    <dgm:cxn modelId="{8271E8F7-A74A-45C6-9573-6379A7AE8695}" type="presParOf" srcId="{D0D8B43D-8F6B-41E4-B566-85B20DA75BF6}" destId="{44873FDA-21E9-4D8E-AF3E-24B8D7912622}" srcOrd="0" destOrd="0" presId="urn:microsoft.com/office/officeart/2008/layout/LinedList"/>
    <dgm:cxn modelId="{C8027E7B-5238-49EB-8093-CF6FAA1DE052}" type="presParOf" srcId="{D0D8B43D-8F6B-41E4-B566-85B20DA75BF6}" destId="{7AC5F6DF-0CAB-4300-8D70-A0FF3DDE49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2A7473-E0A7-4883-A246-94B708D1C9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49AAFC-2DE6-48FE-B7B4-642C77F5A8CF}">
      <dgm:prSet/>
      <dgm:spPr/>
      <dgm:t>
        <a:bodyPr/>
        <a:lstStyle/>
        <a:p>
          <a:r>
            <a:rPr lang="en-US"/>
            <a:t>UCI Red Wine Dataset (Cortez et al., 2009)</a:t>
          </a:r>
        </a:p>
      </dgm:t>
    </dgm:pt>
    <dgm:pt modelId="{ECA8A473-F246-41D6-953D-3714E9178843}" type="parTrans" cxnId="{FD2C4A1F-8ABB-4300-9B53-4FA0EA75FB47}">
      <dgm:prSet/>
      <dgm:spPr/>
      <dgm:t>
        <a:bodyPr/>
        <a:lstStyle/>
        <a:p>
          <a:endParaRPr lang="en-US"/>
        </a:p>
      </dgm:t>
    </dgm:pt>
    <dgm:pt modelId="{DB8CB874-9799-4728-8547-4E49A1456486}" type="sibTrans" cxnId="{FD2C4A1F-8ABB-4300-9B53-4FA0EA75FB47}">
      <dgm:prSet/>
      <dgm:spPr/>
      <dgm:t>
        <a:bodyPr/>
        <a:lstStyle/>
        <a:p>
          <a:endParaRPr lang="en-US"/>
        </a:p>
      </dgm:t>
    </dgm:pt>
    <dgm:pt modelId="{C6B2326D-5F5D-49F0-A711-C955E0067B59}">
      <dgm:prSet/>
      <dgm:spPr/>
      <dgm:t>
        <a:bodyPr/>
        <a:lstStyle/>
        <a:p>
          <a:r>
            <a:rPr lang="en-US"/>
            <a:t>1,599 observations, 11 predictors, quality 3–8.</a:t>
          </a:r>
        </a:p>
      </dgm:t>
    </dgm:pt>
    <dgm:pt modelId="{2EDDCACE-022B-48FA-99F3-6FC8D9EE9ABA}" type="parTrans" cxnId="{8B370F1F-6281-4B40-A71F-9EE754EB9D0D}">
      <dgm:prSet/>
      <dgm:spPr/>
      <dgm:t>
        <a:bodyPr/>
        <a:lstStyle/>
        <a:p>
          <a:endParaRPr lang="en-US"/>
        </a:p>
      </dgm:t>
    </dgm:pt>
    <dgm:pt modelId="{D4358D94-0727-4EF9-BA12-0B9DFDC5D44E}" type="sibTrans" cxnId="{8B370F1F-6281-4B40-A71F-9EE754EB9D0D}">
      <dgm:prSet/>
      <dgm:spPr/>
      <dgm:t>
        <a:bodyPr/>
        <a:lstStyle/>
        <a:p>
          <a:endParaRPr lang="en-US"/>
        </a:p>
      </dgm:t>
    </dgm:pt>
    <dgm:pt modelId="{476DDE74-A3E7-4FFC-8078-28BE427052C1}">
      <dgm:prSet/>
      <dgm:spPr/>
      <dgm:t>
        <a:bodyPr/>
        <a:lstStyle/>
        <a:p>
          <a:r>
            <a:rPr lang="en-US"/>
            <a:t>High-dimensional, nonlinear, ordinal response.</a:t>
          </a:r>
        </a:p>
      </dgm:t>
    </dgm:pt>
    <dgm:pt modelId="{CFFD4E6C-F8BE-446B-9257-B6AAB0DADE8F}" type="parTrans" cxnId="{857CBD30-DA5D-4FDE-9E75-D6A0660908C7}">
      <dgm:prSet/>
      <dgm:spPr/>
      <dgm:t>
        <a:bodyPr/>
        <a:lstStyle/>
        <a:p>
          <a:endParaRPr lang="en-US"/>
        </a:p>
      </dgm:t>
    </dgm:pt>
    <dgm:pt modelId="{4C8F95B5-5138-4E8F-92F8-67A8D49D2809}" type="sibTrans" cxnId="{857CBD30-DA5D-4FDE-9E75-D6A0660908C7}">
      <dgm:prSet/>
      <dgm:spPr/>
      <dgm:t>
        <a:bodyPr/>
        <a:lstStyle/>
        <a:p>
          <a:endParaRPr lang="en-US"/>
        </a:p>
      </dgm:t>
    </dgm:pt>
    <dgm:pt modelId="{D51B8D0D-3537-4090-A4D5-4E865BF5AE8D}" type="pres">
      <dgm:prSet presAssocID="{AE2A7473-E0A7-4883-A246-94B708D1C92B}" presName="linear" presStyleCnt="0">
        <dgm:presLayoutVars>
          <dgm:animLvl val="lvl"/>
          <dgm:resizeHandles val="exact"/>
        </dgm:presLayoutVars>
      </dgm:prSet>
      <dgm:spPr/>
    </dgm:pt>
    <dgm:pt modelId="{687A14E8-D84E-4043-821F-ABD0691BF50B}" type="pres">
      <dgm:prSet presAssocID="{3649AAFC-2DE6-48FE-B7B4-642C77F5A8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0C983F-DD5F-4E40-BED1-F667B7A92584}" type="pres">
      <dgm:prSet presAssocID="{DB8CB874-9799-4728-8547-4E49A1456486}" presName="spacer" presStyleCnt="0"/>
      <dgm:spPr/>
    </dgm:pt>
    <dgm:pt modelId="{29E265B5-2928-4BF9-8F54-09164B2489BC}" type="pres">
      <dgm:prSet presAssocID="{C6B2326D-5F5D-49F0-A711-C955E0067B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010650-F9FD-42A0-96BD-CDC611474D7F}" type="pres">
      <dgm:prSet presAssocID="{D4358D94-0727-4EF9-BA12-0B9DFDC5D44E}" presName="spacer" presStyleCnt="0"/>
      <dgm:spPr/>
    </dgm:pt>
    <dgm:pt modelId="{22DA6095-98D8-49CE-87FC-2C867522ABB4}" type="pres">
      <dgm:prSet presAssocID="{476DDE74-A3E7-4FFC-8078-28BE427052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CF1ED09-E741-44FA-85F1-D647A00D7221}" type="presOf" srcId="{C6B2326D-5F5D-49F0-A711-C955E0067B59}" destId="{29E265B5-2928-4BF9-8F54-09164B2489BC}" srcOrd="0" destOrd="0" presId="urn:microsoft.com/office/officeart/2005/8/layout/vList2"/>
    <dgm:cxn modelId="{8B370F1F-6281-4B40-A71F-9EE754EB9D0D}" srcId="{AE2A7473-E0A7-4883-A246-94B708D1C92B}" destId="{C6B2326D-5F5D-49F0-A711-C955E0067B59}" srcOrd="1" destOrd="0" parTransId="{2EDDCACE-022B-48FA-99F3-6FC8D9EE9ABA}" sibTransId="{D4358D94-0727-4EF9-BA12-0B9DFDC5D44E}"/>
    <dgm:cxn modelId="{FD2C4A1F-8ABB-4300-9B53-4FA0EA75FB47}" srcId="{AE2A7473-E0A7-4883-A246-94B708D1C92B}" destId="{3649AAFC-2DE6-48FE-B7B4-642C77F5A8CF}" srcOrd="0" destOrd="0" parTransId="{ECA8A473-F246-41D6-953D-3714E9178843}" sibTransId="{DB8CB874-9799-4728-8547-4E49A1456486}"/>
    <dgm:cxn modelId="{857CBD30-DA5D-4FDE-9E75-D6A0660908C7}" srcId="{AE2A7473-E0A7-4883-A246-94B708D1C92B}" destId="{476DDE74-A3E7-4FFC-8078-28BE427052C1}" srcOrd="2" destOrd="0" parTransId="{CFFD4E6C-F8BE-446B-9257-B6AAB0DADE8F}" sibTransId="{4C8F95B5-5138-4E8F-92F8-67A8D49D2809}"/>
    <dgm:cxn modelId="{C0D42A5E-2006-49C3-8671-88B65A5CA9BC}" type="presOf" srcId="{3649AAFC-2DE6-48FE-B7B4-642C77F5A8CF}" destId="{687A14E8-D84E-4043-821F-ABD0691BF50B}" srcOrd="0" destOrd="0" presId="urn:microsoft.com/office/officeart/2005/8/layout/vList2"/>
    <dgm:cxn modelId="{DC5516A5-3D63-4B9B-AA22-7FB6343173C3}" type="presOf" srcId="{476DDE74-A3E7-4FFC-8078-28BE427052C1}" destId="{22DA6095-98D8-49CE-87FC-2C867522ABB4}" srcOrd="0" destOrd="0" presId="urn:microsoft.com/office/officeart/2005/8/layout/vList2"/>
    <dgm:cxn modelId="{05E42FD6-6C1A-4663-832E-5A8D869E9CBC}" type="presOf" srcId="{AE2A7473-E0A7-4883-A246-94B708D1C92B}" destId="{D51B8D0D-3537-4090-A4D5-4E865BF5AE8D}" srcOrd="0" destOrd="0" presId="urn:microsoft.com/office/officeart/2005/8/layout/vList2"/>
    <dgm:cxn modelId="{EF3AA11B-91C1-431A-9576-FCFCE3E686B4}" type="presParOf" srcId="{D51B8D0D-3537-4090-A4D5-4E865BF5AE8D}" destId="{687A14E8-D84E-4043-821F-ABD0691BF50B}" srcOrd="0" destOrd="0" presId="urn:microsoft.com/office/officeart/2005/8/layout/vList2"/>
    <dgm:cxn modelId="{5C3BE14D-9D31-4A99-A93E-BDB4AF73C47A}" type="presParOf" srcId="{D51B8D0D-3537-4090-A4D5-4E865BF5AE8D}" destId="{BB0C983F-DD5F-4E40-BED1-F667B7A92584}" srcOrd="1" destOrd="0" presId="urn:microsoft.com/office/officeart/2005/8/layout/vList2"/>
    <dgm:cxn modelId="{6461B032-0D70-4119-961D-A21FC13B3FE0}" type="presParOf" srcId="{D51B8D0D-3537-4090-A4D5-4E865BF5AE8D}" destId="{29E265B5-2928-4BF9-8F54-09164B2489BC}" srcOrd="2" destOrd="0" presId="urn:microsoft.com/office/officeart/2005/8/layout/vList2"/>
    <dgm:cxn modelId="{D34ECE8B-E158-4305-B725-EBCB7B747A33}" type="presParOf" srcId="{D51B8D0D-3537-4090-A4D5-4E865BF5AE8D}" destId="{19010650-F9FD-42A0-96BD-CDC611474D7F}" srcOrd="3" destOrd="0" presId="urn:microsoft.com/office/officeart/2005/8/layout/vList2"/>
    <dgm:cxn modelId="{CF5F2A0E-2774-43C0-9D8E-B21826E9CB53}" type="presParOf" srcId="{D51B8D0D-3537-4090-A4D5-4E865BF5AE8D}" destId="{22DA6095-98D8-49CE-87FC-2C867522AB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2E72BE-CAD8-413C-B014-52409F333B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B7C70F-5DB1-42F3-B5F3-DBB6075753C1}" type="pres">
      <dgm:prSet presAssocID="{EE2E72BE-CAD8-413C-B014-52409F333BF6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BD084E9D-622E-41EF-A618-4BA70D105D78}" type="presOf" srcId="{EE2E72BE-CAD8-413C-B014-52409F333BF6}" destId="{3AB7C70F-5DB1-42F3-B5F3-DBB6075753C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B1E061-7A56-49CC-B471-402F1D18165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64F5C15-2F60-4525-97C2-17C757D050B9}">
      <dgm:prSet/>
      <dgm:spPr/>
      <dgm:t>
        <a:bodyPr/>
        <a:lstStyle/>
        <a:p>
          <a:r>
            <a:rPr lang="en-US"/>
            <a:t>Combines modeling + visualization.</a:t>
          </a:r>
        </a:p>
      </dgm:t>
    </dgm:pt>
    <dgm:pt modelId="{756FCE98-ACB3-476B-BEBE-1B0B059D503D}" type="parTrans" cxnId="{21BBCE7E-E133-43E3-AB91-EFC2A1FEB4FB}">
      <dgm:prSet/>
      <dgm:spPr/>
      <dgm:t>
        <a:bodyPr/>
        <a:lstStyle/>
        <a:p>
          <a:endParaRPr lang="en-US"/>
        </a:p>
      </dgm:t>
    </dgm:pt>
    <dgm:pt modelId="{3943C893-5373-4C56-91FB-11DFCB814BB7}" type="sibTrans" cxnId="{21BBCE7E-E133-43E3-AB91-EFC2A1FEB4FB}">
      <dgm:prSet/>
      <dgm:spPr/>
      <dgm:t>
        <a:bodyPr/>
        <a:lstStyle/>
        <a:p>
          <a:endParaRPr lang="en-US"/>
        </a:p>
      </dgm:t>
    </dgm:pt>
    <dgm:pt modelId="{DAD914C7-8D63-4680-BE85-D3A49A985852}">
      <dgm:prSet/>
      <dgm:spPr/>
      <dgm:t>
        <a:bodyPr/>
        <a:lstStyle/>
        <a:p>
          <a:r>
            <a:rPr lang="en-US"/>
            <a:t>Supports hypothesis generation.</a:t>
          </a:r>
        </a:p>
      </dgm:t>
    </dgm:pt>
    <dgm:pt modelId="{12A6000D-7831-4C4B-9689-8C6410F6227E}" type="parTrans" cxnId="{F800DFA3-2800-4AD0-9C58-12BDEB6C08D3}">
      <dgm:prSet/>
      <dgm:spPr/>
      <dgm:t>
        <a:bodyPr/>
        <a:lstStyle/>
        <a:p>
          <a:endParaRPr lang="en-US"/>
        </a:p>
      </dgm:t>
    </dgm:pt>
    <dgm:pt modelId="{155ED292-C5F2-4524-AECE-5CFA2A92D301}" type="sibTrans" cxnId="{F800DFA3-2800-4AD0-9C58-12BDEB6C08D3}">
      <dgm:prSet/>
      <dgm:spPr/>
      <dgm:t>
        <a:bodyPr/>
        <a:lstStyle/>
        <a:p>
          <a:endParaRPr lang="en-US"/>
        </a:p>
      </dgm:t>
    </dgm:pt>
    <dgm:pt modelId="{7196027A-D496-4FDA-9531-1F9AFBAF42CB}" type="pres">
      <dgm:prSet presAssocID="{6DB1E061-7A56-49CC-B471-402F1D1816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68595A-9CFF-44E0-BFDD-B6EC46276F6D}" type="pres">
      <dgm:prSet presAssocID="{664F5C15-2F60-4525-97C2-17C757D050B9}" presName="hierRoot1" presStyleCnt="0"/>
      <dgm:spPr/>
    </dgm:pt>
    <dgm:pt modelId="{2FB118AF-D299-4C8B-B632-C7B4DA6AFAE7}" type="pres">
      <dgm:prSet presAssocID="{664F5C15-2F60-4525-97C2-17C757D050B9}" presName="composite" presStyleCnt="0"/>
      <dgm:spPr/>
    </dgm:pt>
    <dgm:pt modelId="{51A82475-1B27-4E05-9A01-BC059337D5F6}" type="pres">
      <dgm:prSet presAssocID="{664F5C15-2F60-4525-97C2-17C757D050B9}" presName="background" presStyleLbl="node0" presStyleIdx="0" presStyleCnt="2"/>
      <dgm:spPr/>
    </dgm:pt>
    <dgm:pt modelId="{1BAFA0AB-D5B3-4D78-A4D3-AD94141BF3F0}" type="pres">
      <dgm:prSet presAssocID="{664F5C15-2F60-4525-97C2-17C757D050B9}" presName="text" presStyleLbl="fgAcc0" presStyleIdx="0" presStyleCnt="2">
        <dgm:presLayoutVars>
          <dgm:chPref val="3"/>
        </dgm:presLayoutVars>
      </dgm:prSet>
      <dgm:spPr/>
    </dgm:pt>
    <dgm:pt modelId="{C2BA1690-9ABE-4780-B856-685E36480F41}" type="pres">
      <dgm:prSet presAssocID="{664F5C15-2F60-4525-97C2-17C757D050B9}" presName="hierChild2" presStyleCnt="0"/>
      <dgm:spPr/>
    </dgm:pt>
    <dgm:pt modelId="{A99B119A-5C6A-4410-9BCA-1DA39528C3DA}" type="pres">
      <dgm:prSet presAssocID="{DAD914C7-8D63-4680-BE85-D3A49A985852}" presName="hierRoot1" presStyleCnt="0"/>
      <dgm:spPr/>
    </dgm:pt>
    <dgm:pt modelId="{82A3A39D-5108-4C98-A338-519D7D3A10FA}" type="pres">
      <dgm:prSet presAssocID="{DAD914C7-8D63-4680-BE85-D3A49A985852}" presName="composite" presStyleCnt="0"/>
      <dgm:spPr/>
    </dgm:pt>
    <dgm:pt modelId="{51F5667B-C32B-4E59-8DE9-43EF7EDFBCE8}" type="pres">
      <dgm:prSet presAssocID="{DAD914C7-8D63-4680-BE85-D3A49A985852}" presName="background" presStyleLbl="node0" presStyleIdx="1" presStyleCnt="2"/>
      <dgm:spPr/>
    </dgm:pt>
    <dgm:pt modelId="{333CF14C-F9FC-4025-A4C8-293A5EE0375D}" type="pres">
      <dgm:prSet presAssocID="{DAD914C7-8D63-4680-BE85-D3A49A985852}" presName="text" presStyleLbl="fgAcc0" presStyleIdx="1" presStyleCnt="2">
        <dgm:presLayoutVars>
          <dgm:chPref val="3"/>
        </dgm:presLayoutVars>
      </dgm:prSet>
      <dgm:spPr/>
    </dgm:pt>
    <dgm:pt modelId="{A9E2EEAE-86E7-451F-8B53-C916433CFB93}" type="pres">
      <dgm:prSet presAssocID="{DAD914C7-8D63-4680-BE85-D3A49A985852}" presName="hierChild2" presStyleCnt="0"/>
      <dgm:spPr/>
    </dgm:pt>
  </dgm:ptLst>
  <dgm:cxnLst>
    <dgm:cxn modelId="{13B8F75F-8E7A-4878-95EE-2864E6113C93}" type="presOf" srcId="{664F5C15-2F60-4525-97C2-17C757D050B9}" destId="{1BAFA0AB-D5B3-4D78-A4D3-AD94141BF3F0}" srcOrd="0" destOrd="0" presId="urn:microsoft.com/office/officeart/2005/8/layout/hierarchy1"/>
    <dgm:cxn modelId="{21BBCE7E-E133-43E3-AB91-EFC2A1FEB4FB}" srcId="{6DB1E061-7A56-49CC-B471-402F1D181656}" destId="{664F5C15-2F60-4525-97C2-17C757D050B9}" srcOrd="0" destOrd="0" parTransId="{756FCE98-ACB3-476B-BEBE-1B0B059D503D}" sibTransId="{3943C893-5373-4C56-91FB-11DFCB814BB7}"/>
    <dgm:cxn modelId="{F800DFA3-2800-4AD0-9C58-12BDEB6C08D3}" srcId="{6DB1E061-7A56-49CC-B471-402F1D181656}" destId="{DAD914C7-8D63-4680-BE85-D3A49A985852}" srcOrd="1" destOrd="0" parTransId="{12A6000D-7831-4C4B-9689-8C6410F6227E}" sibTransId="{155ED292-C5F2-4524-AECE-5CFA2A92D301}"/>
    <dgm:cxn modelId="{BE9517C8-3C44-4796-A33D-19CA05CBCF48}" type="presOf" srcId="{DAD914C7-8D63-4680-BE85-D3A49A985852}" destId="{333CF14C-F9FC-4025-A4C8-293A5EE0375D}" srcOrd="0" destOrd="0" presId="urn:microsoft.com/office/officeart/2005/8/layout/hierarchy1"/>
    <dgm:cxn modelId="{5A18EBFF-C919-4182-8F99-6ED5E2DBB904}" type="presOf" srcId="{6DB1E061-7A56-49CC-B471-402F1D181656}" destId="{7196027A-D496-4FDA-9531-1F9AFBAF42CB}" srcOrd="0" destOrd="0" presId="urn:microsoft.com/office/officeart/2005/8/layout/hierarchy1"/>
    <dgm:cxn modelId="{07B18FF6-D631-4581-9E6C-398CFDD3ECCF}" type="presParOf" srcId="{7196027A-D496-4FDA-9531-1F9AFBAF42CB}" destId="{0268595A-9CFF-44E0-BFDD-B6EC46276F6D}" srcOrd="0" destOrd="0" presId="urn:microsoft.com/office/officeart/2005/8/layout/hierarchy1"/>
    <dgm:cxn modelId="{0BAD2E01-9233-4672-A971-C4625EC4D764}" type="presParOf" srcId="{0268595A-9CFF-44E0-BFDD-B6EC46276F6D}" destId="{2FB118AF-D299-4C8B-B632-C7B4DA6AFAE7}" srcOrd="0" destOrd="0" presId="urn:microsoft.com/office/officeart/2005/8/layout/hierarchy1"/>
    <dgm:cxn modelId="{1F77B385-CEF9-4B44-A709-CB54EB8F5BF0}" type="presParOf" srcId="{2FB118AF-D299-4C8B-B632-C7B4DA6AFAE7}" destId="{51A82475-1B27-4E05-9A01-BC059337D5F6}" srcOrd="0" destOrd="0" presId="urn:microsoft.com/office/officeart/2005/8/layout/hierarchy1"/>
    <dgm:cxn modelId="{3013D20F-5DFD-4095-9A04-DEC7365F6BFC}" type="presParOf" srcId="{2FB118AF-D299-4C8B-B632-C7B4DA6AFAE7}" destId="{1BAFA0AB-D5B3-4D78-A4D3-AD94141BF3F0}" srcOrd="1" destOrd="0" presId="urn:microsoft.com/office/officeart/2005/8/layout/hierarchy1"/>
    <dgm:cxn modelId="{8F6EBA0B-892E-4891-ACA0-9FD48CA4D38F}" type="presParOf" srcId="{0268595A-9CFF-44E0-BFDD-B6EC46276F6D}" destId="{C2BA1690-9ABE-4780-B856-685E36480F41}" srcOrd="1" destOrd="0" presId="urn:microsoft.com/office/officeart/2005/8/layout/hierarchy1"/>
    <dgm:cxn modelId="{D36436A6-FEA9-45AD-8D63-2B4D46F7D8E8}" type="presParOf" srcId="{7196027A-D496-4FDA-9531-1F9AFBAF42CB}" destId="{A99B119A-5C6A-4410-9BCA-1DA39528C3DA}" srcOrd="1" destOrd="0" presId="urn:microsoft.com/office/officeart/2005/8/layout/hierarchy1"/>
    <dgm:cxn modelId="{05299BDA-8C6D-4B99-A29A-FDA6609ED9EC}" type="presParOf" srcId="{A99B119A-5C6A-4410-9BCA-1DA39528C3DA}" destId="{82A3A39D-5108-4C98-A338-519D7D3A10FA}" srcOrd="0" destOrd="0" presId="urn:microsoft.com/office/officeart/2005/8/layout/hierarchy1"/>
    <dgm:cxn modelId="{F30BCC36-6DA4-4292-9E85-B59DDECE2869}" type="presParOf" srcId="{82A3A39D-5108-4C98-A338-519D7D3A10FA}" destId="{51F5667B-C32B-4E59-8DE9-43EF7EDFBCE8}" srcOrd="0" destOrd="0" presId="urn:microsoft.com/office/officeart/2005/8/layout/hierarchy1"/>
    <dgm:cxn modelId="{A95D055C-CAF9-4416-A5BB-29D8280E5A15}" type="presParOf" srcId="{82A3A39D-5108-4C98-A338-519D7D3A10FA}" destId="{333CF14C-F9FC-4025-A4C8-293A5EE0375D}" srcOrd="1" destOrd="0" presId="urn:microsoft.com/office/officeart/2005/8/layout/hierarchy1"/>
    <dgm:cxn modelId="{54DF5177-443A-4FA4-B4FF-23D9507E01AB}" type="presParOf" srcId="{A99B119A-5C6A-4410-9BCA-1DA39528C3DA}" destId="{A9E2EEAE-86E7-451F-8B53-C916433CFB9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2E2556-F3ED-4F65-A17B-B265CD4654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410D3A-6B86-411D-919D-563BFEF3FD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Interactive, reproducible tool for enology research.</a:t>
          </a:r>
        </a:p>
      </dgm:t>
    </dgm:pt>
    <dgm:pt modelId="{182A84A9-C6A7-4459-8053-06AD8C890315}" type="parTrans" cxnId="{EA531EA1-1022-46C2-96B0-A38C65D64FC8}">
      <dgm:prSet/>
      <dgm:spPr/>
      <dgm:t>
        <a:bodyPr/>
        <a:lstStyle/>
        <a:p>
          <a:endParaRPr lang="en-US"/>
        </a:p>
      </dgm:t>
    </dgm:pt>
    <dgm:pt modelId="{2BF3D667-D69E-4230-97C8-3E42C77132E5}" type="sibTrans" cxnId="{EA531EA1-1022-46C2-96B0-A38C65D64FC8}">
      <dgm:prSet/>
      <dgm:spPr/>
      <dgm:t>
        <a:bodyPr/>
        <a:lstStyle/>
        <a:p>
          <a:endParaRPr lang="en-US"/>
        </a:p>
      </dgm:t>
    </dgm:pt>
    <dgm:pt modelId="{3D9608F0-75AB-47FA-893A-514E165157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Aligns with academic visualization principles.</a:t>
          </a:r>
        </a:p>
      </dgm:t>
    </dgm:pt>
    <dgm:pt modelId="{E774C788-19E3-43C1-AA7B-225BC5F54979}" type="parTrans" cxnId="{93043CEF-A7B0-4914-B85B-4935E2975636}">
      <dgm:prSet/>
      <dgm:spPr/>
      <dgm:t>
        <a:bodyPr/>
        <a:lstStyle/>
        <a:p>
          <a:endParaRPr lang="en-US"/>
        </a:p>
      </dgm:t>
    </dgm:pt>
    <dgm:pt modelId="{530E7FB6-500C-42BA-98BB-8F724C67EF1A}" type="sibTrans" cxnId="{93043CEF-A7B0-4914-B85B-4935E2975636}">
      <dgm:prSet/>
      <dgm:spPr/>
      <dgm:t>
        <a:bodyPr/>
        <a:lstStyle/>
        <a:p>
          <a:endParaRPr lang="en-US"/>
        </a:p>
      </dgm:t>
    </dgm:pt>
    <dgm:pt modelId="{D0BFD0C6-FC09-4088-87D5-5A37AC37EC9F}" type="pres">
      <dgm:prSet presAssocID="{202E2556-F3ED-4F65-A17B-B265CD465466}" presName="root" presStyleCnt="0">
        <dgm:presLayoutVars>
          <dgm:dir/>
          <dgm:resizeHandles val="exact"/>
        </dgm:presLayoutVars>
      </dgm:prSet>
      <dgm:spPr/>
    </dgm:pt>
    <dgm:pt modelId="{21F3C256-AAEE-4AA9-9FD1-84B55B0DE44A}" type="pres">
      <dgm:prSet presAssocID="{96410D3A-6B86-411D-919D-563BFEF3FD74}" presName="compNode" presStyleCnt="0"/>
      <dgm:spPr/>
    </dgm:pt>
    <dgm:pt modelId="{F8822E1E-F21A-4CCF-90F3-0CB5E050DF0B}" type="pres">
      <dgm:prSet presAssocID="{96410D3A-6B86-411D-919D-563BFEF3FD74}" presName="bgRect" presStyleLbl="bgShp" presStyleIdx="0" presStyleCnt="2"/>
      <dgm:spPr/>
    </dgm:pt>
    <dgm:pt modelId="{C782B426-A8CC-4322-B13C-3335CB72A6A6}" type="pres">
      <dgm:prSet presAssocID="{96410D3A-6B86-411D-919D-563BFEF3FD7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9742B71-A7AC-47CE-B7D2-794CBA48D3BE}" type="pres">
      <dgm:prSet presAssocID="{96410D3A-6B86-411D-919D-563BFEF3FD74}" presName="spaceRect" presStyleCnt="0"/>
      <dgm:spPr/>
    </dgm:pt>
    <dgm:pt modelId="{1E263CDF-1165-476B-A515-11D64EEDE628}" type="pres">
      <dgm:prSet presAssocID="{96410D3A-6B86-411D-919D-563BFEF3FD74}" presName="parTx" presStyleLbl="revTx" presStyleIdx="0" presStyleCnt="2">
        <dgm:presLayoutVars>
          <dgm:chMax val="0"/>
          <dgm:chPref val="0"/>
        </dgm:presLayoutVars>
      </dgm:prSet>
      <dgm:spPr/>
    </dgm:pt>
    <dgm:pt modelId="{D9038FE8-6BEE-4495-B5E2-06BDD84F15F8}" type="pres">
      <dgm:prSet presAssocID="{2BF3D667-D69E-4230-97C8-3E42C77132E5}" presName="sibTrans" presStyleCnt="0"/>
      <dgm:spPr/>
    </dgm:pt>
    <dgm:pt modelId="{6766CFF0-8BDA-423F-A6E1-59A3A3F364D9}" type="pres">
      <dgm:prSet presAssocID="{3D9608F0-75AB-47FA-893A-514E16515768}" presName="compNode" presStyleCnt="0"/>
      <dgm:spPr/>
    </dgm:pt>
    <dgm:pt modelId="{DE38289C-2A08-4CF1-86E1-C8CF997F5184}" type="pres">
      <dgm:prSet presAssocID="{3D9608F0-75AB-47FA-893A-514E16515768}" presName="bgRect" presStyleLbl="bgShp" presStyleIdx="1" presStyleCnt="2"/>
      <dgm:spPr/>
    </dgm:pt>
    <dgm:pt modelId="{75C00168-2C08-43CD-B679-281509E76666}" type="pres">
      <dgm:prSet presAssocID="{3D9608F0-75AB-47FA-893A-514E165157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5E67BCD4-D1A3-4442-A31E-2C386F4433E2}" type="pres">
      <dgm:prSet presAssocID="{3D9608F0-75AB-47FA-893A-514E16515768}" presName="spaceRect" presStyleCnt="0"/>
      <dgm:spPr/>
    </dgm:pt>
    <dgm:pt modelId="{5F9B9D3E-76B5-40F0-A1EB-7F822FCE7A0E}" type="pres">
      <dgm:prSet presAssocID="{3D9608F0-75AB-47FA-893A-514E1651576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8FE2F18-F903-4DA7-93ED-7375F2F8ECFF}" type="presOf" srcId="{3D9608F0-75AB-47FA-893A-514E16515768}" destId="{5F9B9D3E-76B5-40F0-A1EB-7F822FCE7A0E}" srcOrd="0" destOrd="0" presId="urn:microsoft.com/office/officeart/2018/2/layout/IconVerticalSolidList"/>
    <dgm:cxn modelId="{1D6F2E28-DD5D-44E0-8FC4-61B37DBD1D4A}" type="presOf" srcId="{96410D3A-6B86-411D-919D-563BFEF3FD74}" destId="{1E263CDF-1165-476B-A515-11D64EEDE628}" srcOrd="0" destOrd="0" presId="urn:microsoft.com/office/officeart/2018/2/layout/IconVerticalSolidList"/>
    <dgm:cxn modelId="{FB557B62-16FA-4BA6-BBA7-1C42FC54917F}" type="presOf" srcId="{202E2556-F3ED-4F65-A17B-B265CD465466}" destId="{D0BFD0C6-FC09-4088-87D5-5A37AC37EC9F}" srcOrd="0" destOrd="0" presId="urn:microsoft.com/office/officeart/2018/2/layout/IconVerticalSolidList"/>
    <dgm:cxn modelId="{EA531EA1-1022-46C2-96B0-A38C65D64FC8}" srcId="{202E2556-F3ED-4F65-A17B-B265CD465466}" destId="{96410D3A-6B86-411D-919D-563BFEF3FD74}" srcOrd="0" destOrd="0" parTransId="{182A84A9-C6A7-4459-8053-06AD8C890315}" sibTransId="{2BF3D667-D69E-4230-97C8-3E42C77132E5}"/>
    <dgm:cxn modelId="{93043CEF-A7B0-4914-B85B-4935E2975636}" srcId="{202E2556-F3ED-4F65-A17B-B265CD465466}" destId="{3D9608F0-75AB-47FA-893A-514E16515768}" srcOrd="1" destOrd="0" parTransId="{E774C788-19E3-43C1-AA7B-225BC5F54979}" sibTransId="{530E7FB6-500C-42BA-98BB-8F724C67EF1A}"/>
    <dgm:cxn modelId="{5BDD8307-8AC7-4EB3-B1F3-C18AA5BD00E8}" type="presParOf" srcId="{D0BFD0C6-FC09-4088-87D5-5A37AC37EC9F}" destId="{21F3C256-AAEE-4AA9-9FD1-84B55B0DE44A}" srcOrd="0" destOrd="0" presId="urn:microsoft.com/office/officeart/2018/2/layout/IconVerticalSolidList"/>
    <dgm:cxn modelId="{98E25D14-5FE9-4B72-A297-DAEFAB976C63}" type="presParOf" srcId="{21F3C256-AAEE-4AA9-9FD1-84B55B0DE44A}" destId="{F8822E1E-F21A-4CCF-90F3-0CB5E050DF0B}" srcOrd="0" destOrd="0" presId="urn:microsoft.com/office/officeart/2018/2/layout/IconVerticalSolidList"/>
    <dgm:cxn modelId="{07C89C4E-2D8F-403D-9294-8772B872B336}" type="presParOf" srcId="{21F3C256-AAEE-4AA9-9FD1-84B55B0DE44A}" destId="{C782B426-A8CC-4322-B13C-3335CB72A6A6}" srcOrd="1" destOrd="0" presId="urn:microsoft.com/office/officeart/2018/2/layout/IconVerticalSolidList"/>
    <dgm:cxn modelId="{C1319EB6-6937-485C-9295-BE9E03E34264}" type="presParOf" srcId="{21F3C256-AAEE-4AA9-9FD1-84B55B0DE44A}" destId="{89742B71-A7AC-47CE-B7D2-794CBA48D3BE}" srcOrd="2" destOrd="0" presId="urn:microsoft.com/office/officeart/2018/2/layout/IconVerticalSolidList"/>
    <dgm:cxn modelId="{0AE0B504-21D8-4CE3-A856-929A343FB318}" type="presParOf" srcId="{21F3C256-AAEE-4AA9-9FD1-84B55B0DE44A}" destId="{1E263CDF-1165-476B-A515-11D64EEDE628}" srcOrd="3" destOrd="0" presId="urn:microsoft.com/office/officeart/2018/2/layout/IconVerticalSolidList"/>
    <dgm:cxn modelId="{012B1692-B25D-4D3B-811A-5AA890F81FE6}" type="presParOf" srcId="{D0BFD0C6-FC09-4088-87D5-5A37AC37EC9F}" destId="{D9038FE8-6BEE-4495-B5E2-06BDD84F15F8}" srcOrd="1" destOrd="0" presId="urn:microsoft.com/office/officeart/2018/2/layout/IconVerticalSolidList"/>
    <dgm:cxn modelId="{62F7EE10-687C-4D80-A86C-2C8D600CD83F}" type="presParOf" srcId="{D0BFD0C6-FC09-4088-87D5-5A37AC37EC9F}" destId="{6766CFF0-8BDA-423F-A6E1-59A3A3F364D9}" srcOrd="2" destOrd="0" presId="urn:microsoft.com/office/officeart/2018/2/layout/IconVerticalSolidList"/>
    <dgm:cxn modelId="{521270EA-93BF-4A6D-B37E-CD82E8EDAE76}" type="presParOf" srcId="{6766CFF0-8BDA-423F-A6E1-59A3A3F364D9}" destId="{DE38289C-2A08-4CF1-86E1-C8CF997F5184}" srcOrd="0" destOrd="0" presId="urn:microsoft.com/office/officeart/2018/2/layout/IconVerticalSolidList"/>
    <dgm:cxn modelId="{F4F9121B-E620-4A5E-A8E0-65B764BE973C}" type="presParOf" srcId="{6766CFF0-8BDA-423F-A6E1-59A3A3F364D9}" destId="{75C00168-2C08-43CD-B679-281509E76666}" srcOrd="1" destOrd="0" presId="urn:microsoft.com/office/officeart/2018/2/layout/IconVerticalSolidList"/>
    <dgm:cxn modelId="{F153AF4B-283C-4F71-936F-AC8EF1C04B41}" type="presParOf" srcId="{6766CFF0-8BDA-423F-A6E1-59A3A3F364D9}" destId="{5E67BCD4-D1A3-4442-A31E-2C386F4433E2}" srcOrd="2" destOrd="0" presId="urn:microsoft.com/office/officeart/2018/2/layout/IconVerticalSolidList"/>
    <dgm:cxn modelId="{D1D7FBA1-B1CE-4C4E-890D-35951DD21E47}" type="presParOf" srcId="{6766CFF0-8BDA-423F-A6E1-59A3A3F364D9}" destId="{5F9B9D3E-76B5-40F0-A1EB-7F822FCE7A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20EE3-B450-4520-9455-8CD65B121F8F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496B3-3824-4DF1-B581-DB47744EABF1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Quality evaluation relies on sensory panels. </a:t>
          </a:r>
        </a:p>
      </dsp:txBody>
      <dsp:txXfrm>
        <a:off x="0" y="0"/>
        <a:ext cx="8229600" cy="1131490"/>
      </dsp:txXfrm>
    </dsp:sp>
    <dsp:sp modelId="{188E35E5-43DB-4499-A64E-54DE6DBFFED2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DD66E-5932-4EBB-9C8B-150982F1B51F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Chemical profiling provides objective methods.</a:t>
          </a:r>
        </a:p>
      </dsp:txBody>
      <dsp:txXfrm>
        <a:off x="0" y="1131490"/>
        <a:ext cx="8229600" cy="1131490"/>
      </dsp:txXfrm>
    </dsp:sp>
    <dsp:sp modelId="{9CE00F49-BFD3-4E34-BE9F-FCB371EE5C82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0CD9C-8E6C-451A-9ADE-63BE29629695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This Shiny app enables interactive exploration and prediction.</a:t>
          </a:r>
        </a:p>
      </dsp:txBody>
      <dsp:txXfrm>
        <a:off x="0" y="2262981"/>
        <a:ext cx="8229600" cy="1131490"/>
      </dsp:txXfrm>
    </dsp:sp>
    <dsp:sp modelId="{1A74E619-E460-45B4-8C38-0C7B4EC829CA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73FDA-21E9-4D8E-AF3E-24B8D7912622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(Cortez et al., 2009)</a:t>
          </a:r>
        </a:p>
      </dsp:txBody>
      <dsp:txXfrm>
        <a:off x="0" y="3394472"/>
        <a:ext cx="8229600" cy="1131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A14E8-D84E-4043-821F-ABD0691BF50B}">
      <dsp:nvSpPr>
        <dsp:cNvPr id="0" name=""/>
        <dsp:cNvSpPr/>
      </dsp:nvSpPr>
      <dsp:spPr>
        <a:xfrm>
          <a:off x="0" y="14143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UCI Red Wine Dataset (Cortez et al., 2009)</a:t>
          </a:r>
        </a:p>
      </dsp:txBody>
      <dsp:txXfrm>
        <a:off x="69812" y="83955"/>
        <a:ext cx="8089976" cy="1290481"/>
      </dsp:txXfrm>
    </dsp:sp>
    <dsp:sp modelId="{29E265B5-2928-4BF9-8F54-09164B2489BC}">
      <dsp:nvSpPr>
        <dsp:cNvPr id="0" name=""/>
        <dsp:cNvSpPr/>
      </dsp:nvSpPr>
      <dsp:spPr>
        <a:xfrm>
          <a:off x="0" y="1547928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1,599 observations, 11 predictors, quality 3–8.</a:t>
          </a:r>
        </a:p>
      </dsp:txBody>
      <dsp:txXfrm>
        <a:off x="69812" y="1617740"/>
        <a:ext cx="8089976" cy="1290481"/>
      </dsp:txXfrm>
    </dsp:sp>
    <dsp:sp modelId="{22DA6095-98D8-49CE-87FC-2C867522ABB4}">
      <dsp:nvSpPr>
        <dsp:cNvPr id="0" name=""/>
        <dsp:cNvSpPr/>
      </dsp:nvSpPr>
      <dsp:spPr>
        <a:xfrm>
          <a:off x="0" y="3081714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High-dimensional, nonlinear, ordinal response.</a:t>
          </a:r>
        </a:p>
      </dsp:txBody>
      <dsp:txXfrm>
        <a:off x="69812" y="3151526"/>
        <a:ext cx="8089976" cy="1290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82475-1B27-4E05-9A01-BC059337D5F6}">
      <dsp:nvSpPr>
        <dsp:cNvPr id="0" name=""/>
        <dsp:cNvSpPr/>
      </dsp:nvSpPr>
      <dsp:spPr>
        <a:xfrm>
          <a:off x="1004" y="957341"/>
          <a:ext cx="3526110" cy="2239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FA0AB-D5B3-4D78-A4D3-AD94141BF3F0}">
      <dsp:nvSpPr>
        <dsp:cNvPr id="0" name=""/>
        <dsp:cNvSpPr/>
      </dsp:nvSpPr>
      <dsp:spPr>
        <a:xfrm>
          <a:off x="392794" y="1329541"/>
          <a:ext cx="3526110" cy="22390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Combines modeling + visualization.</a:t>
          </a:r>
        </a:p>
      </dsp:txBody>
      <dsp:txXfrm>
        <a:off x="458374" y="1395121"/>
        <a:ext cx="3394950" cy="2107920"/>
      </dsp:txXfrm>
    </dsp:sp>
    <dsp:sp modelId="{51F5667B-C32B-4E59-8DE9-43EF7EDFBCE8}">
      <dsp:nvSpPr>
        <dsp:cNvPr id="0" name=""/>
        <dsp:cNvSpPr/>
      </dsp:nvSpPr>
      <dsp:spPr>
        <a:xfrm>
          <a:off x="4310695" y="957341"/>
          <a:ext cx="3526110" cy="2239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CF14C-F9FC-4025-A4C8-293A5EE0375D}">
      <dsp:nvSpPr>
        <dsp:cNvPr id="0" name=""/>
        <dsp:cNvSpPr/>
      </dsp:nvSpPr>
      <dsp:spPr>
        <a:xfrm>
          <a:off x="4702485" y="1329541"/>
          <a:ext cx="3526110" cy="22390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Supports hypothesis generation.</a:t>
          </a:r>
        </a:p>
      </dsp:txBody>
      <dsp:txXfrm>
        <a:off x="4768065" y="1395121"/>
        <a:ext cx="3394950" cy="21079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22E1E-F21A-4CCF-90F3-0CB5E050DF0B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2B426-A8CC-4322-B13C-3335CB72A6A6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63CDF-1165-476B-A515-11D64EEDE628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Interactive, reproducible tool for enology research.</a:t>
          </a:r>
        </a:p>
      </dsp:txBody>
      <dsp:txXfrm>
        <a:off x="1568246" y="735468"/>
        <a:ext cx="6661353" cy="1357788"/>
      </dsp:txXfrm>
    </dsp:sp>
    <dsp:sp modelId="{DE38289C-2A08-4CF1-86E1-C8CF997F5184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00168-2C08-43CD-B679-281509E76666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B9D3E-76B5-40F0-A1EB-7F822FCE7A0E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Aligns with academic visualization principles.</a:t>
          </a:r>
        </a:p>
      </dsp:txBody>
      <dsp:txXfrm>
        <a:off x="1568246" y="2432705"/>
        <a:ext cx="6661353" cy="135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Interactive Exploration and Prediction of Wine Quality Using Chemical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A Shiny Web Application</a:t>
            </a:r>
          </a:p>
          <a:p>
            <a:endParaRPr lang="en-US" sz="1700"/>
          </a:p>
          <a:p>
            <a:pPr marL="0" indent="0">
              <a:buNone/>
            </a:pPr>
            <a:r>
              <a:rPr lang="en-US" sz="1700"/>
              <a:t>Luke Wamalwa</a:t>
            </a:r>
          </a:p>
          <a:p>
            <a:pPr marL="0" indent="0">
              <a:buNone/>
            </a:pPr>
            <a:r>
              <a:rPr lang="en-US" sz="1700"/>
              <a:t>Applied Statistics &amp; Data Science</a:t>
            </a:r>
          </a:p>
          <a:p>
            <a:pPr marL="0" indent="0">
              <a:buNone/>
            </a:pPr>
            <a:r>
              <a:rPr lang="en-US" sz="1700"/>
              <a:t>University of Kansas Medical Center</a:t>
            </a:r>
          </a:p>
          <a:p>
            <a:pPr marL="0" indent="0">
              <a:buNone/>
            </a:pPr>
            <a:r>
              <a:rPr lang="en-US" sz="1700"/>
              <a:t>FALL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139F0-5317-251B-2253-CED7603B4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/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DC0787-A1C1-BF3C-DBF2-28D4A6C207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1. How do chemical properties vary across quality?</a:t>
            </a:r>
          </a:p>
          <a:p>
            <a:pPr marL="0" indent="0">
              <a:buNone/>
            </a:pPr>
            <a:r>
              <a:rPr lang="en-US" sz="1700"/>
              <a:t>2. Which features matter most?</a:t>
            </a:r>
          </a:p>
          <a:p>
            <a:pPr marL="0" indent="0">
              <a:buNone/>
            </a:pPr>
            <a:r>
              <a:rPr lang="en-US" sz="1700"/>
              <a:t>3. Can we predict quality categories?</a:t>
            </a:r>
          </a:p>
          <a:p>
            <a:pPr marL="0" indent="0">
              <a:buNone/>
            </a:pPr>
            <a:r>
              <a:rPr lang="en-US" sz="1700"/>
              <a:t>4. How does Shiny support exploration?</a:t>
            </a:r>
          </a:p>
        </p:txBody>
      </p:sp>
      <p:pic>
        <p:nvPicPr>
          <p:cNvPr id="5" name="Picture 4" descr="Beakers with solution on shelf in lab">
            <a:extLst>
              <a:ext uri="{FF2B5EF4-FFF2-40B4-BE49-F238E27FC236}">
                <a16:creationId xmlns:a16="http://schemas.microsoft.com/office/drawing/2014/main" id="{E45705F8-8580-CD78-3924-E337E8519A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03" r="2174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38A774-A712-7FEF-C9DD-010A1154D5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Shiny App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Uses Shiny, </a:t>
            </a:r>
            <a:r>
              <a:rPr lang="en-US" sz="1700" dirty="0" err="1"/>
              <a:t>Tidyverse</a:t>
            </a:r>
            <a:r>
              <a:rPr lang="en-US" sz="1700" dirty="0"/>
              <a:t>, </a:t>
            </a:r>
            <a:r>
              <a:rPr lang="en-US" sz="1700" dirty="0" err="1"/>
              <a:t>Plotly</a:t>
            </a:r>
            <a:r>
              <a:rPr lang="en-US" sz="1700" dirty="0"/>
              <a:t>, DT.</a:t>
            </a:r>
          </a:p>
          <a:p>
            <a:r>
              <a:rPr lang="en-US" sz="1700" dirty="0"/>
              <a:t>Supports EDA, modeling and prediction.</a:t>
            </a:r>
          </a:p>
        </p:txBody>
      </p:sp>
      <p:pic>
        <p:nvPicPr>
          <p:cNvPr id="5" name="Picture 4" descr="Abstract art made of triangles and other shapes">
            <a:extLst>
              <a:ext uri="{FF2B5EF4-FFF2-40B4-BE49-F238E27FC236}">
                <a16:creationId xmlns:a16="http://schemas.microsoft.com/office/drawing/2014/main" id="{9CC401C0-B675-E615-5059-D3BC8E56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Exploratory Analysis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483DB8-C5EB-3C5B-C136-A864030CC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1565"/>
            <a:ext cx="8229600" cy="452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Shiny Tab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B224FD-497F-D35F-7CF9-DA003A227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1044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10B6403-2636-207F-F31D-9A6AEEA2B0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43" y="1286070"/>
            <a:ext cx="8230313" cy="4285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Expressiveness, effectiveness, color theory, integrity.</a:t>
            </a:r>
          </a:p>
          <a:p>
            <a:r>
              <a:t>(Tufte, 1983)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Multicategory logistic regression.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AAF97-633C-7420-9764-44363CAC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63" y="2300748"/>
            <a:ext cx="4486305" cy="35211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36A2BF-97C5-5137-0B1E-24DEAC992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762" y="3929096"/>
            <a:ext cx="2042337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057" y="731731"/>
            <a:ext cx="7083028" cy="954194"/>
          </a:xfrm>
        </p:spPr>
        <p:txBody>
          <a:bodyPr anchor="t">
            <a:normAutofit/>
          </a:bodyPr>
          <a:lstStyle/>
          <a:p>
            <a:r>
              <a:rPr lang="en-US" sz="2800"/>
              <a:t>Model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E15064-197F-564C-613D-9DDA7A7E5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253108"/>
              </p:ext>
            </p:extLst>
          </p:nvPr>
        </p:nvGraphicFramePr>
        <p:xfrm>
          <a:off x="1328922" y="1838857"/>
          <a:ext cx="6504570" cy="352284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96612">
                  <a:extLst>
                    <a:ext uri="{9D8B030D-6E8A-4147-A177-3AD203B41FA5}">
                      <a16:colId xmlns:a16="http://schemas.microsoft.com/office/drawing/2014/main" val="278843101"/>
                    </a:ext>
                  </a:extLst>
                </a:gridCol>
                <a:gridCol w="659726">
                  <a:extLst>
                    <a:ext uri="{9D8B030D-6E8A-4147-A177-3AD203B41FA5}">
                      <a16:colId xmlns:a16="http://schemas.microsoft.com/office/drawing/2014/main" val="1978760967"/>
                    </a:ext>
                  </a:extLst>
                </a:gridCol>
                <a:gridCol w="965399">
                  <a:extLst>
                    <a:ext uri="{9D8B030D-6E8A-4147-A177-3AD203B41FA5}">
                      <a16:colId xmlns:a16="http://schemas.microsoft.com/office/drawing/2014/main" val="598006348"/>
                    </a:ext>
                  </a:extLst>
                </a:gridCol>
                <a:gridCol w="1229300">
                  <a:extLst>
                    <a:ext uri="{9D8B030D-6E8A-4147-A177-3AD203B41FA5}">
                      <a16:colId xmlns:a16="http://schemas.microsoft.com/office/drawing/2014/main" val="3991744564"/>
                    </a:ext>
                  </a:extLst>
                </a:gridCol>
                <a:gridCol w="2553533">
                  <a:extLst>
                    <a:ext uri="{9D8B030D-6E8A-4147-A177-3AD203B41FA5}">
                      <a16:colId xmlns:a16="http://schemas.microsoft.com/office/drawing/2014/main" val="1238447145"/>
                    </a:ext>
                  </a:extLst>
                </a:gridCol>
              </a:tblGrid>
              <a:tr h="40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Coefficient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Direction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Statistical Significance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Interpretation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03985"/>
                  </a:ext>
                </a:extLst>
              </a:tr>
              <a:tr h="549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Alcohol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+0.8835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↑ Higher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 &lt; 0.000001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Wines with higher alcohol content have substantially higher odds of receiving a higher quality rating.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2137"/>
                  </a:ext>
                </a:extLst>
              </a:tr>
              <a:tr h="549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Volatile Acidity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–3.0698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↓ Lower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 &lt; 0.000001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Higher volatile acidity greatly reduces predicted quality due to vinegar-like off-aromas.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63963"/>
                  </a:ext>
                </a:extLst>
              </a:tr>
              <a:tr h="40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Sulphates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+0.7389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↑ Higher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 &lt; 0.000001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Higher sulphate levels increase quality by enhancing microbial stability and texture.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69943"/>
                  </a:ext>
                </a:extLst>
              </a:tr>
              <a:tr h="40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Total Sulfur Dioxide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–0.2133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↓ Lower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 &lt; 0.000001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Excess total SO₂ slightly lowers quality, consistent with sensory impacts.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900568"/>
                  </a:ext>
                </a:extLst>
              </a:tr>
              <a:tr h="40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Chlorides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–1.1720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↓ Lower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 &lt; 0.00001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Higher saltiness (chlorides) decreases the odds of high-quality ratings.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420324"/>
                  </a:ext>
                </a:extLst>
              </a:tr>
              <a:tr h="40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–3.1166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↓ Lower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p &lt; 0.001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Higher pH (less acidity) reduces quality; acidic wines tend to be rated higher.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049067"/>
                  </a:ext>
                </a:extLst>
              </a:tr>
              <a:tr h="40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Free Sulfur Dioxide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176" marR="21176" marT="43723" marB="4372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–0.0318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↓ Lower Quality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p ≈ 0.008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</a:rPr>
                        <a:t>Small negative effect; excessive free SO₂ can affect freshness.</a:t>
                      </a:r>
                    </a:p>
                  </a:txBody>
                  <a:tcPr marL="21176" marR="21176" marT="43723" marB="4372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279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9143999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6" y="307447"/>
            <a:ext cx="8020413" cy="1109932"/>
          </a:xfrm>
        </p:spPr>
        <p:txBody>
          <a:bodyPr>
            <a:normAutofit/>
          </a:bodyPr>
          <a:lstStyle/>
          <a:p>
            <a:r>
              <a:rPr lang="en-US" sz="3500"/>
              <a:t>Prediction Tab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C2A7C-2738-4202-0BD1-5AA61210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3" y="1313504"/>
            <a:ext cx="8230313" cy="42309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214" y="276198"/>
            <a:ext cx="7858200" cy="1157242"/>
          </a:xfrm>
        </p:spPr>
        <p:txBody>
          <a:bodyPr>
            <a:normAutofit/>
          </a:bodyPr>
          <a:lstStyle/>
          <a:p>
            <a:r>
              <a:rPr lang="en-US" sz="3500"/>
              <a:t>Insights from Application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E6D733-0377-5B2A-2BC5-B218E68D58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992737"/>
              </p:ext>
            </p:extLst>
          </p:nvPr>
        </p:nvGraphicFramePr>
        <p:xfrm>
          <a:off x="1138079" y="2122098"/>
          <a:ext cx="6867843" cy="3875918"/>
        </p:xfrm>
        <a:graphic>
          <a:graphicData uri="http://schemas.openxmlformats.org/drawingml/2006/table">
            <a:tbl>
              <a:tblPr/>
              <a:tblGrid>
                <a:gridCol w="3413565">
                  <a:extLst>
                    <a:ext uri="{9D8B030D-6E8A-4147-A177-3AD203B41FA5}">
                      <a16:colId xmlns:a16="http://schemas.microsoft.com/office/drawing/2014/main" val="176822830"/>
                    </a:ext>
                  </a:extLst>
                </a:gridCol>
                <a:gridCol w="3454278">
                  <a:extLst>
                    <a:ext uri="{9D8B030D-6E8A-4147-A177-3AD203B41FA5}">
                      <a16:colId xmlns:a16="http://schemas.microsoft.com/office/drawing/2014/main" val="3760674033"/>
                    </a:ext>
                  </a:extLst>
                </a:gridCol>
              </a:tblGrid>
              <a:tr h="22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Insight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Interpretation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211845"/>
                  </a:ext>
                </a:extLst>
              </a:tr>
              <a:tr h="517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Alcohol ↑ (Strongest Positive Predictor)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Higher alcohol content greatly increases the odds of a higher quality rating. Wines with more alcohol tend to have better body and aromatic intensity.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28065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Volatile Acidity ↓ (Strongest Negative Predictor)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Large negative effect. High volatile acidity sharply reduces predicted quality due to vinegar-like off-aromas.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73361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Sulphates ↑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Higher sulphate levels increase quality by enhancing microbial stability and mouthfeel.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417918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Chlorides ↓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Increased salinity (chlorides) lowers the likelihood of a high-quality rating.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813638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Total &amp; Free Sulfur Dioxide ↓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Excess SO₂ slightly reduces quality; small but statistically significant effect.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439285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pH ↓ (Higher Acidity ↑ Quality)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Wines with lower pH (more acidity) are more likely to be rated higher in quality.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72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Classical Enological Patterns Confirmed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The model captures known relationships: alcohol and acidity improve quality; volatile acidity and saltiness reduce it.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176589"/>
                  </a:ext>
                </a:extLst>
              </a:tr>
              <a:tr h="517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Multicollinearity Noted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Density and pH show extremely high VIF values (28–38), indicating redundancy with other predictors (e.g., alcohol, sugar, acidity).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506737"/>
                  </a:ext>
                </a:extLst>
              </a:tr>
              <a:tr h="373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Best Model Fit: Forward-Selected Model</a:t>
                      </a:r>
                      <a:endParaRPr lang="en-US" sz="900"/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Lowest AIC indicates the most efficient and interpretable model.</a:t>
                      </a:r>
                    </a:p>
                  </a:txBody>
                  <a:tcPr marL="48853" marR="48853" marT="24427" marB="24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4184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B9FB79-0F0A-BF33-6927-4895D2145D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214" y="276198"/>
            <a:ext cx="7858200" cy="1157242"/>
          </a:xfrm>
        </p:spPr>
        <p:txBody>
          <a:bodyPr>
            <a:normAutofit/>
          </a:bodyPr>
          <a:lstStyle/>
          <a:p>
            <a:r>
              <a:rPr lang="en-US" sz="3500"/>
              <a:t>Limitations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916F74-B599-151E-1211-1D4DA82A79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184640"/>
              </p:ext>
            </p:extLst>
          </p:nvPr>
        </p:nvGraphicFramePr>
        <p:xfrm>
          <a:off x="938122" y="2328466"/>
          <a:ext cx="7267756" cy="3463182"/>
        </p:xfrm>
        <a:graphic>
          <a:graphicData uri="http://schemas.openxmlformats.org/drawingml/2006/table">
            <a:tbl>
              <a:tblPr/>
              <a:tblGrid>
                <a:gridCol w="2909535">
                  <a:extLst>
                    <a:ext uri="{9D8B030D-6E8A-4147-A177-3AD203B41FA5}">
                      <a16:colId xmlns:a16="http://schemas.microsoft.com/office/drawing/2014/main" val="2222239161"/>
                    </a:ext>
                  </a:extLst>
                </a:gridCol>
                <a:gridCol w="4358221">
                  <a:extLst>
                    <a:ext uri="{9D8B030D-6E8A-4147-A177-3AD203B41FA5}">
                      <a16:colId xmlns:a16="http://schemas.microsoft.com/office/drawing/2014/main" val="2961744495"/>
                    </a:ext>
                  </a:extLst>
                </a:gridCol>
              </a:tblGrid>
              <a:tr h="202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Limitation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Description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369803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Class Imbalance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Most wines are rated 5 or 6, with relatively few samples in extreme categories (3, 4, 7, 8). This reduces predictive accuracy for rare quality levels and can bias the model toward mid-range predictions.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244670"/>
                  </a:ext>
                </a:extLst>
              </a:tr>
              <a:tr h="339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Multicollinearity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Density (VIF ≈ 38) and pH (VIF ≈ 29) show severe multicollinearity, inflating standard errors and making coefficients less stable and harder to interpret.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537396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Linear Relationship Assumption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Ordinal logistic regression assumes proportional odds and linear relationships between predictors and the log-odds of higher quality. Real chemical–sensory relationships may be nonlinear.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406295"/>
                  </a:ext>
                </a:extLst>
              </a:tr>
              <a:tr h="339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Predictor Redundancy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Several chemical features (e.g., acidity metrics, sulfur compounds) are highly correlated, meaning some predictors may not add unique information to the model.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888931"/>
                  </a:ext>
                </a:extLst>
              </a:tr>
              <a:tr h="339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Sensitivity to Outliers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Chemical measurements can contain outliers that disproportionately influence coefficient estimates, especially in small quality categories.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734173"/>
                  </a:ext>
                </a:extLst>
              </a:tr>
              <a:tr h="339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Human Sensory Variability Not Modeled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The model predicts sensory ratings from chemistry alone but does not account for variability in human tasting panels or subjective preferences.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466165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Limited Generalizability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The dataset reflects wine from a single geographic region and type (Vinho Verde–style red wines). Findings may not generalize to other varietals or production methods.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458939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No Nonlinear or Interaction Terms Included</a:t>
                      </a:r>
                      <a:endParaRPr lang="en-US" sz="900"/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Important interactions (e.g., alcohol × acidity) or nonlinear effects may be present but were not included in this model. More flexible models (RF, </a:t>
                      </a:r>
                      <a:r>
                        <a:rPr lang="en-US" sz="900" dirty="0" err="1"/>
                        <a:t>XGBoost</a:t>
                      </a:r>
                      <a:r>
                        <a:rPr lang="en-US" sz="900" dirty="0"/>
                        <a:t>) may capture these relationships better.</a:t>
                      </a:r>
                    </a:p>
                  </a:txBody>
                  <a:tcPr marL="32287" marR="32287" marT="16143" marB="16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5460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Deployment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52EB4CE-F1D1-1F2F-4FD7-E2B100FB3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12" r="51085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 dirty="0"/>
              <a:t>GitHub repo includes </a:t>
            </a:r>
            <a:r>
              <a:rPr lang="en-US" sz="1700" dirty="0" err="1"/>
              <a:t>app.R</a:t>
            </a:r>
            <a:r>
              <a:rPr lang="en-US" sz="1700" dirty="0"/>
              <a:t>, data,  slides.</a:t>
            </a:r>
          </a:p>
          <a:p>
            <a:r>
              <a:rPr lang="en-US" sz="1700" dirty="0"/>
              <a:t>Github.com/lukahere007.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06F6CB6-0E30-8B0E-3594-40C1AC6B15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Cortez, Paulo, et al.</a:t>
            </a:r>
            <a:r>
              <a:rPr lang="en-US" dirty="0"/>
              <a:t> “Modeling Wine Preferences by Data Mining from Physicochemical Properties.” </a:t>
            </a:r>
            <a:r>
              <a:rPr lang="en-US" i="1" dirty="0"/>
              <a:t>Decision Support Systems</a:t>
            </a:r>
            <a:r>
              <a:rPr lang="en-US" dirty="0"/>
              <a:t>, vol. 47, no. 4, 2009, pp. 547–553.</a:t>
            </a:r>
          </a:p>
          <a:p>
            <a:r>
              <a:rPr lang="en-US" b="1" dirty="0"/>
              <a:t>Tufte, Edward R.</a:t>
            </a:r>
            <a:r>
              <a:rPr lang="en-US" dirty="0"/>
              <a:t> </a:t>
            </a:r>
            <a:r>
              <a:rPr lang="en-US" i="1" dirty="0"/>
              <a:t>The Visual Display of Quantitative Information</a:t>
            </a:r>
            <a:r>
              <a:rPr lang="en-US" dirty="0"/>
              <a:t>. Graphics Press, 1983.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908</Words>
  <Application>Microsoft Office PowerPoint</Application>
  <PresentationFormat>On-screen Show (4:3)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Interactive Exploration and Prediction of Wine Quality Using Chemical Profiling</vt:lpstr>
      <vt:lpstr>Introduction / Motivation</vt:lpstr>
      <vt:lpstr>Research Questions</vt:lpstr>
      <vt:lpstr>Dataset Description</vt:lpstr>
      <vt:lpstr>Shiny App Architecture</vt:lpstr>
      <vt:lpstr>Insights from Exploratory Analysis</vt:lpstr>
      <vt:lpstr>EDA Shiny Tab</vt:lpstr>
      <vt:lpstr>Visualization Principles</vt:lpstr>
      <vt:lpstr>Modeling Approach</vt:lpstr>
      <vt:lpstr>Model Results</vt:lpstr>
      <vt:lpstr>Prediction Tab</vt:lpstr>
      <vt:lpstr>Insights from Application</vt:lpstr>
      <vt:lpstr>Discussion</vt:lpstr>
      <vt:lpstr>Limitations</vt:lpstr>
      <vt:lpstr>Deployment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Luke Wamalwa</dc:creator>
  <cp:keywords/>
  <dc:description>generated using python-pptx</dc:description>
  <cp:lastModifiedBy>Luke Wamalwa</cp:lastModifiedBy>
  <cp:revision>2</cp:revision>
  <dcterms:created xsi:type="dcterms:W3CDTF">2013-01-27T09:14:16Z</dcterms:created>
  <dcterms:modified xsi:type="dcterms:W3CDTF">2025-12-04T02:27:27Z</dcterms:modified>
  <cp:category/>
</cp:coreProperties>
</file>